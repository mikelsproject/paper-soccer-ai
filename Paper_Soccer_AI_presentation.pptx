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319C4-0669-4062-B710-E4A47D53BF05}" v="11" dt="2026-06-18T07:28:21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4" autoAdjust="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yk Kuna" userId="efbc53b83e3a64ac" providerId="LiveId" clId="{1A3CA3ED-7A5B-4850-96D7-7D3CECB0AE9A}"/>
    <pc:docChg chg="undo custSel modSld">
      <pc:chgData name="Patryk Kuna" userId="efbc53b83e3a64ac" providerId="LiveId" clId="{1A3CA3ED-7A5B-4850-96D7-7D3CECB0AE9A}" dt="2026-06-18T07:28:23.304" v="73"/>
      <pc:docMkLst>
        <pc:docMk/>
      </pc:docMkLst>
      <pc:sldChg chg="modSp mod">
        <pc:chgData name="Patryk Kuna" userId="efbc53b83e3a64ac" providerId="LiveId" clId="{1A3CA3ED-7A5B-4850-96D7-7D3CECB0AE9A}" dt="2026-06-18T07:18:37.025" v="71" actId="20577"/>
        <pc:sldMkLst>
          <pc:docMk/>
          <pc:sldMk cId="0" sldId="261"/>
        </pc:sldMkLst>
        <pc:spChg chg="mod">
          <ac:chgData name="Patryk Kuna" userId="efbc53b83e3a64ac" providerId="LiveId" clId="{1A3CA3ED-7A5B-4850-96D7-7D3CECB0AE9A}" dt="2026-06-18T07:17:08.489" v="29" actId="25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Patryk Kuna" userId="efbc53b83e3a64ac" providerId="LiveId" clId="{1A3CA3ED-7A5B-4850-96D7-7D3CECB0AE9A}" dt="2026-06-18T07:17:03.015" v="28" actId="255"/>
          <ac:spMkLst>
            <pc:docMk/>
            <pc:sldMk cId="0" sldId="261"/>
            <ac:spMk id="26" creationId="{00000000-0000-0000-0000-000000000000}"/>
          </ac:spMkLst>
        </pc:spChg>
        <pc:spChg chg="mod">
          <ac:chgData name="Patryk Kuna" userId="efbc53b83e3a64ac" providerId="LiveId" clId="{1A3CA3ED-7A5B-4850-96D7-7D3CECB0AE9A}" dt="2026-06-18T07:16:48.641" v="25" actId="1410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atryk Kuna" userId="efbc53b83e3a64ac" providerId="LiveId" clId="{1A3CA3ED-7A5B-4850-96D7-7D3CECB0AE9A}" dt="2026-06-18T07:18:37.025" v="71" actId="20577"/>
          <ac:spMkLst>
            <pc:docMk/>
            <pc:sldMk cId="0" sldId="261"/>
            <ac:spMk id="29" creationId="{00000000-0000-0000-0000-000000000000}"/>
          </ac:spMkLst>
        </pc:spChg>
      </pc:sldChg>
      <pc:sldChg chg="modSp mod">
        <pc:chgData name="Patryk Kuna" userId="efbc53b83e3a64ac" providerId="LiveId" clId="{1A3CA3ED-7A5B-4850-96D7-7D3CECB0AE9A}" dt="2026-06-18T07:28:23.304" v="73"/>
        <pc:sldMkLst>
          <pc:docMk/>
          <pc:sldMk cId="0" sldId="262"/>
        </pc:sldMkLst>
        <pc:spChg chg="mod">
          <ac:chgData name="Patryk Kuna" userId="efbc53b83e3a64ac" providerId="LiveId" clId="{1A3CA3ED-7A5B-4850-96D7-7D3CECB0AE9A}" dt="2026-06-18T07:28:23.304" v="73"/>
          <ac:spMkLst>
            <pc:docMk/>
            <pc:sldMk cId="0" sldId="262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560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explain the project in one sentence. Show that it is a game first, then an ML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bounce rule carefully. It motivates why the state and search are interesting.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story: not one monolithic program, but a bridge between engine and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brief: the engine is the authority. Mention that bots never break the rules because legal moves are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bots are not just variants. Each one has a role: baseline, teacher,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ML slide. Explain that epsilon is exploration, not noisy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go into too much math. Say it is not predicting winner, it is choosing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top-3 matters because several moves can be almost equally good in Paper Soccer.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short live demo if time allows. Mention that the goal was not a perfect bot, but a full ML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3044"/>
          </a:solidFill>
          <a:ln w="12700">
            <a:solidFill>
              <a:srgbClr val="2330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Soccer AI</a:t>
            </a:r>
            <a:endParaRPr lang="en-US" sz="4200" noProof="1"/>
          </a:p>
        </p:txBody>
      </p:sp>
      <p:sp>
        <p:nvSpPr>
          <p:cNvPr id="6" name="Text 4"/>
          <p:cNvSpPr/>
          <p:nvPr/>
        </p:nvSpPr>
        <p:spPr>
          <a:xfrm>
            <a:off x="676656" y="13075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1">
                <a:solidFill>
                  <a:srgbClr val="B7C0D1"/>
                </a:solidFill>
              </a:rPr>
              <a:t>C++ game engine + search expert + neural trained bot</a:t>
            </a:r>
            <a:endParaRPr lang="en-US" sz="1600" noProof="1"/>
          </a:p>
        </p:txBody>
      </p:sp>
      <p:sp>
        <p:nvSpPr>
          <p:cNvPr id="7" name="Shape 5"/>
          <p:cNvSpPr/>
          <p:nvPr/>
        </p:nvSpPr>
        <p:spPr>
          <a:xfrm>
            <a:off x="676656" y="190195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749808" y="1987136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noProof="1">
                <a:solidFill>
                  <a:srgbClr val="F8FAFC"/>
                </a:solidFill>
              </a:rPr>
              <a:t>Applied Machine Learning</a:t>
            </a:r>
            <a:endParaRPr lang="en-US" sz="930" noProof="1"/>
          </a:p>
        </p:txBody>
      </p:sp>
      <p:sp>
        <p:nvSpPr>
          <p:cNvPr id="9" name="Shape 7"/>
          <p:cNvSpPr/>
          <p:nvPr/>
        </p:nvSpPr>
        <p:spPr>
          <a:xfrm>
            <a:off x="2606040" y="190195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3DDC84">
              <a:alpha val="92000"/>
            </a:srgbClr>
          </a:solidFill>
          <a:ln w="12700">
            <a:solidFill>
              <a:srgbClr val="3DDC8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/>
          <p:cNvSpPr/>
          <p:nvPr/>
        </p:nvSpPr>
        <p:spPr>
          <a:xfrm>
            <a:off x="2679192" y="1987136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noProof="1">
                <a:solidFill>
                  <a:srgbClr val="F8FAFC"/>
                </a:solidFill>
              </a:rPr>
              <a:t>PyTorch</a:t>
            </a:r>
            <a:endParaRPr lang="en-US" sz="930" noProof="1"/>
          </a:p>
        </p:txBody>
      </p:sp>
      <p:sp>
        <p:nvSpPr>
          <p:cNvPr id="11" name="Shape 9"/>
          <p:cNvSpPr/>
          <p:nvPr/>
        </p:nvSpPr>
        <p:spPr>
          <a:xfrm>
            <a:off x="3657600" y="190195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2" name="Text 10"/>
          <p:cNvSpPr/>
          <p:nvPr/>
        </p:nvSpPr>
        <p:spPr>
          <a:xfrm>
            <a:off x="3730752" y="1987136"/>
            <a:ext cx="539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noProof="1">
                <a:solidFill>
                  <a:srgbClr val="F8FAFC"/>
                </a:solidFill>
              </a:rPr>
              <a:t>C++</a:t>
            </a:r>
            <a:endParaRPr lang="en-US" sz="930" noProof="1"/>
          </a:p>
        </p:txBody>
      </p:sp>
      <p:sp>
        <p:nvSpPr>
          <p:cNvPr id="14" name="Text 12"/>
          <p:cNvSpPr/>
          <p:nvPr/>
        </p:nvSpPr>
        <p:spPr>
          <a:xfrm>
            <a:off x="7345680" y="1307591"/>
            <a:ext cx="4645152" cy="103856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B7C0D1"/>
                </a:solidFill>
              </a:rPr>
              <a:t>• Playable Paper Soccer game</a:t>
            </a:r>
            <a:endParaRPr lang="pl-PL" sz="1300" noProof="1">
              <a:solidFill>
                <a:srgbClr val="B7C0D1"/>
              </a:solidFill>
            </a:endParaRPr>
          </a:p>
          <a:p>
            <a:endParaRPr lang="en-US" sz="1300" noProof="1">
              <a:solidFill>
                <a:srgbClr val="B7C0D1"/>
              </a:solidFill>
            </a:endParaRPr>
          </a:p>
          <a:p>
            <a:r>
              <a:rPr lang="en-US" sz="1300" noProof="1">
                <a:solidFill>
                  <a:srgbClr val="B7C0D1"/>
                </a:solidFill>
              </a:rPr>
              <a:t>• C++ rule engine saves GameState</a:t>
            </a:r>
            <a:endParaRPr lang="pl-PL" sz="1300" noProof="1">
              <a:solidFill>
                <a:srgbClr val="B7C0D1"/>
              </a:solidFill>
            </a:endParaRPr>
          </a:p>
          <a:p>
            <a:endParaRPr lang="en-US" sz="1300" noProof="1">
              <a:solidFill>
                <a:srgbClr val="B7C0D1"/>
              </a:solidFill>
            </a:endParaRPr>
          </a:p>
          <a:p>
            <a:r>
              <a:rPr lang="en-US" sz="1300" noProof="1">
                <a:solidFill>
                  <a:srgbClr val="B7C0D1"/>
                </a:solidFill>
              </a:rPr>
              <a:t>• Python bots use this state for search, training and web play</a:t>
            </a:r>
            <a:endParaRPr lang="en-US" sz="1300" noProof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D71DED9-2F1C-322A-56F5-8C723E0FB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4356"/>
            <a:ext cx="6457315" cy="36621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10CC51-6CC1-6735-F463-51827DAA7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877" y="2704356"/>
            <a:ext cx="4825335" cy="3662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Game rules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Paper Soccer is a graph game with blocking edges and extra moves.</a:t>
            </a:r>
            <a:endParaRPr lang="en-US" sz="1250" noProof="1"/>
          </a:p>
        </p:txBody>
      </p:sp>
      <p:sp>
        <p:nvSpPr>
          <p:cNvPr id="7" name="Shape 5"/>
          <p:cNvSpPr/>
          <p:nvPr/>
        </p:nvSpPr>
        <p:spPr>
          <a:xfrm>
            <a:off x="731520" y="1325879"/>
            <a:ext cx="3419375" cy="3438626"/>
          </a:xfrm>
          <a:prstGeom prst="roundRect">
            <a:avLst>
              <a:gd name="adj" fmla="val 2727"/>
            </a:avLst>
          </a:prstGeom>
          <a:solidFill>
            <a:srgbClr val="202A3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7"/>
          <p:cNvSpPr/>
          <p:nvPr/>
        </p:nvSpPr>
        <p:spPr>
          <a:xfrm>
            <a:off x="5303520" y="1234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1">
                <a:solidFill>
                  <a:srgbClr val="3DDC84"/>
                </a:solidFill>
              </a:rPr>
              <a:t>Core rules</a:t>
            </a:r>
            <a:endParaRPr lang="en-US" sz="1200" noProof="1"/>
          </a:p>
        </p:txBody>
      </p:sp>
      <p:sp>
        <p:nvSpPr>
          <p:cNvPr id="11" name="Text 8"/>
          <p:cNvSpPr/>
          <p:nvPr/>
        </p:nvSpPr>
        <p:spPr>
          <a:xfrm>
            <a:off x="5303520" y="1572767"/>
            <a:ext cx="2637322" cy="319173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</a:rPr>
              <a:t>• Ball starts in the center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Move to one of 8 neighboring points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Used edge cannot be used again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Goal = move into opponent’s goal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No legal moves = loss</a:t>
            </a:r>
            <a:endParaRPr lang="en-US" sz="1300" noProof="1"/>
          </a:p>
        </p:txBody>
      </p:sp>
      <p:sp>
        <p:nvSpPr>
          <p:cNvPr id="12" name="Shape 9"/>
          <p:cNvSpPr/>
          <p:nvPr/>
        </p:nvSpPr>
        <p:spPr>
          <a:xfrm>
            <a:off x="8549640" y="1298448"/>
            <a:ext cx="2834640" cy="1871873"/>
          </a:xfrm>
          <a:prstGeom prst="roundRect">
            <a:avLst>
              <a:gd name="adj" fmla="val 5854"/>
            </a:avLst>
          </a:prstGeom>
          <a:solidFill>
            <a:srgbClr val="101826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3" name="Text 10"/>
          <p:cNvSpPr/>
          <p:nvPr/>
        </p:nvSpPr>
        <p:spPr>
          <a:xfrm>
            <a:off x="8759952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1">
                <a:solidFill>
                  <a:srgbClr val="F97316"/>
                </a:solidFill>
              </a:rPr>
              <a:t>Bounce rule</a:t>
            </a:r>
            <a:endParaRPr lang="en-US" sz="1800" noProof="1"/>
          </a:p>
        </p:txBody>
      </p:sp>
      <p:sp>
        <p:nvSpPr>
          <p:cNvPr id="14" name="Text 11"/>
          <p:cNvSpPr/>
          <p:nvPr/>
        </p:nvSpPr>
        <p:spPr>
          <a:xfrm>
            <a:off x="8759952" y="1993392"/>
            <a:ext cx="23317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r>
              <a:rPr lang="en-US" sz="1300" noProof="1">
                <a:solidFill>
                  <a:srgbClr val="B7C0D1"/>
                </a:solidFill>
              </a:rPr>
              <a:t>If the ball lands on a visited point or border, the same player moves again. One turn can become a chain of moves.</a:t>
            </a:r>
            <a:endParaRPr lang="en-US" sz="1300" noProof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3DB49B-F274-6435-6D11-E28BF2EB6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50" y="1572768"/>
            <a:ext cx="2857899" cy="2915057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96123712-EBBC-2208-98A9-3198AE52C0F9}"/>
              </a:ext>
            </a:extLst>
          </p:cNvPr>
          <p:cNvSpPr/>
          <p:nvPr/>
        </p:nvSpPr>
        <p:spPr>
          <a:xfrm>
            <a:off x="731520" y="5111977"/>
            <a:ext cx="10652760" cy="1425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r>
              <a:rPr lang="en-US" sz="1400" noProof="0" dirty="0">
                <a:solidFill>
                  <a:schemeClr val="bg1"/>
                </a:solidFill>
              </a:rPr>
              <a:t>Each move draws a line between two neighboring points. After that, this edge becomes blocked and cannot be used again, so the graph changes after every move.</a:t>
            </a:r>
            <a:endParaRPr lang="pl-PL" sz="1400" noProof="0" dirty="0">
              <a:solidFill>
                <a:schemeClr val="bg1"/>
              </a:solidFill>
            </a:endParaRP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Because of the bounce rule, a single turn can become a longer chain of moves. The player keeps moving if the ball lands on a visited point or on the border.</a:t>
            </a:r>
            <a:endParaRPr lang="pl-PL" sz="1400" noProof="0" dirty="0">
              <a:solidFill>
                <a:schemeClr val="bg1"/>
              </a:solidFill>
            </a:endParaRP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This means the state is not only the ball position. We also need to remember used edges and visited vertices, which makes the game interesting for search algorithms and neural-network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From game to software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557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We split the project into a rule engine, Python bots, and a browser visualization</a:t>
            </a:r>
            <a:endParaRPr lang="en-US" sz="1250" noProof="1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101826"/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804672" y="20756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1">
                <a:solidFill>
                  <a:srgbClr val="F8FAFC"/>
                </a:solidFill>
              </a:rPr>
              <a:t>C++ Engine</a:t>
            </a:r>
            <a:endParaRPr lang="en-US" sz="1500" noProof="1"/>
          </a:p>
        </p:txBody>
      </p:sp>
      <p:sp>
        <p:nvSpPr>
          <p:cNvPr id="9" name="Text 7"/>
          <p:cNvSpPr/>
          <p:nvPr/>
        </p:nvSpPr>
        <p:spPr>
          <a:xfrm>
            <a:off x="804672" y="2496312"/>
            <a:ext cx="1728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rules, legal moves, winner</a:t>
            </a:r>
            <a:endParaRPr lang="en-US" sz="1050" noProof="1"/>
          </a:p>
        </p:txBody>
      </p:sp>
      <p:sp>
        <p:nvSpPr>
          <p:cNvPr id="10" name="Shape 8"/>
          <p:cNvSpPr/>
          <p:nvPr/>
        </p:nvSpPr>
        <p:spPr>
          <a:xfrm>
            <a:off x="3154680" y="18745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101826"/>
          </a:solidFill>
          <a:ln w="12700">
            <a:solidFill>
              <a:srgbClr val="3DDC8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1" name="Text 9"/>
          <p:cNvSpPr/>
          <p:nvPr/>
        </p:nvSpPr>
        <p:spPr>
          <a:xfrm>
            <a:off x="3273552" y="20756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1">
                <a:solidFill>
                  <a:srgbClr val="F8FAFC"/>
                </a:solidFill>
              </a:rPr>
              <a:t>gamestate.txt</a:t>
            </a:r>
            <a:endParaRPr lang="en-US" sz="1500" noProof="1"/>
          </a:p>
        </p:txBody>
      </p:sp>
      <p:sp>
        <p:nvSpPr>
          <p:cNvPr id="12" name="Text 10"/>
          <p:cNvSpPr/>
          <p:nvPr/>
        </p:nvSpPr>
        <p:spPr>
          <a:xfrm>
            <a:off x="3273552" y="2496312"/>
            <a:ext cx="1728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serialized board state</a:t>
            </a:r>
            <a:endParaRPr lang="en-US" sz="1050" noProof="1"/>
          </a:p>
        </p:txBody>
      </p:sp>
      <p:sp>
        <p:nvSpPr>
          <p:cNvPr id="13" name="Shape 11"/>
          <p:cNvSpPr/>
          <p:nvPr/>
        </p:nvSpPr>
        <p:spPr>
          <a:xfrm>
            <a:off x="5623560" y="18745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101826"/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4" name="Text 12"/>
          <p:cNvSpPr/>
          <p:nvPr/>
        </p:nvSpPr>
        <p:spPr>
          <a:xfrm>
            <a:off x="5742432" y="20756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1">
                <a:solidFill>
                  <a:srgbClr val="F8FAFC"/>
                </a:solidFill>
              </a:rPr>
              <a:t>Python Parser</a:t>
            </a:r>
            <a:endParaRPr lang="en-US" sz="1500" noProof="1"/>
          </a:p>
        </p:txBody>
      </p:sp>
      <p:sp>
        <p:nvSpPr>
          <p:cNvPr id="15" name="Text 13"/>
          <p:cNvSpPr/>
          <p:nvPr/>
        </p:nvSpPr>
        <p:spPr>
          <a:xfrm>
            <a:off x="5742432" y="2496312"/>
            <a:ext cx="1728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tensors + GameState</a:t>
            </a:r>
            <a:endParaRPr lang="en-US" sz="1050" noProof="1"/>
          </a:p>
        </p:txBody>
      </p:sp>
      <p:sp>
        <p:nvSpPr>
          <p:cNvPr id="16" name="Shape 14"/>
          <p:cNvSpPr/>
          <p:nvPr/>
        </p:nvSpPr>
        <p:spPr>
          <a:xfrm>
            <a:off x="8092439" y="1874520"/>
            <a:ext cx="1965959" cy="1143000"/>
          </a:xfrm>
          <a:prstGeom prst="roundRect">
            <a:avLst>
              <a:gd name="adj" fmla="val 9600"/>
            </a:avLst>
          </a:prstGeom>
          <a:solidFill>
            <a:srgbClr val="101826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7" name="Text 15"/>
          <p:cNvSpPr/>
          <p:nvPr/>
        </p:nvSpPr>
        <p:spPr>
          <a:xfrm>
            <a:off x="8211312" y="20756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1">
                <a:solidFill>
                  <a:srgbClr val="F8FAFC"/>
                </a:solidFill>
              </a:rPr>
              <a:t>ML</a:t>
            </a:r>
            <a:endParaRPr lang="en-US" sz="1500" noProof="1"/>
          </a:p>
        </p:txBody>
      </p:sp>
      <p:sp>
        <p:nvSpPr>
          <p:cNvPr id="18" name="Text 16"/>
          <p:cNvSpPr/>
          <p:nvPr/>
        </p:nvSpPr>
        <p:spPr>
          <a:xfrm>
            <a:off x="8211312" y="2496312"/>
            <a:ext cx="1728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heuristic, search, neural</a:t>
            </a:r>
            <a:endParaRPr lang="en-US" sz="1050" noProof="1"/>
          </a:p>
        </p:txBody>
      </p:sp>
      <p:sp>
        <p:nvSpPr>
          <p:cNvPr id="19" name="Shape 17"/>
          <p:cNvSpPr/>
          <p:nvPr/>
        </p:nvSpPr>
        <p:spPr>
          <a:xfrm>
            <a:off x="10177271" y="1874520"/>
            <a:ext cx="1463282" cy="1143000"/>
          </a:xfrm>
          <a:prstGeom prst="roundRect">
            <a:avLst>
              <a:gd name="adj" fmla="val 9600"/>
            </a:avLst>
          </a:prstGeom>
          <a:solidFill>
            <a:srgbClr val="101826"/>
          </a:solidFill>
          <a:ln w="12700">
            <a:solidFill>
              <a:srgbClr val="3DDC8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0" name="Text 18"/>
          <p:cNvSpPr/>
          <p:nvPr/>
        </p:nvSpPr>
        <p:spPr>
          <a:xfrm>
            <a:off x="10279544" y="20756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noProof="1">
                <a:solidFill>
                  <a:srgbClr val="F8FAFC"/>
                </a:solidFill>
              </a:rPr>
              <a:t>Web UI</a:t>
            </a:r>
            <a:endParaRPr lang="en-US" sz="1500" noProof="1"/>
          </a:p>
        </p:txBody>
      </p:sp>
      <p:sp>
        <p:nvSpPr>
          <p:cNvPr id="21" name="Text 19"/>
          <p:cNvSpPr/>
          <p:nvPr/>
        </p:nvSpPr>
        <p:spPr>
          <a:xfrm>
            <a:off x="10279544" y="2496312"/>
            <a:ext cx="1728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play + watch matches</a:t>
            </a:r>
            <a:endParaRPr lang="en-US" sz="1050" noProof="1"/>
          </a:p>
        </p:txBody>
      </p:sp>
      <p:sp>
        <p:nvSpPr>
          <p:cNvPr id="22" name="Shape 20"/>
          <p:cNvSpPr/>
          <p:nvPr/>
        </p:nvSpPr>
        <p:spPr>
          <a:xfrm>
            <a:off x="2697480" y="2450592"/>
            <a:ext cx="393192" cy="0"/>
          </a:xfrm>
          <a:prstGeom prst="line">
            <a:avLst/>
          </a:prstGeom>
          <a:noFill/>
          <a:ln w="27940">
            <a:solidFill>
              <a:srgbClr val="3DDC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3" name="Shape 21"/>
          <p:cNvSpPr/>
          <p:nvPr/>
        </p:nvSpPr>
        <p:spPr>
          <a:xfrm>
            <a:off x="5166360" y="2450592"/>
            <a:ext cx="393192" cy="0"/>
          </a:xfrm>
          <a:prstGeom prst="line">
            <a:avLst/>
          </a:prstGeom>
          <a:noFill/>
          <a:ln w="27940">
            <a:solidFill>
              <a:srgbClr val="60A5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4" name="Shape 22"/>
          <p:cNvSpPr/>
          <p:nvPr/>
        </p:nvSpPr>
        <p:spPr>
          <a:xfrm>
            <a:off x="7635240" y="2450592"/>
            <a:ext cx="393192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5" name="Shape 23"/>
          <p:cNvSpPr/>
          <p:nvPr/>
        </p:nvSpPr>
        <p:spPr>
          <a:xfrm>
            <a:off x="10012680" y="2450592"/>
            <a:ext cx="0" cy="0"/>
          </a:xfrm>
          <a:prstGeom prst="line">
            <a:avLst/>
          </a:prstGeom>
          <a:noFill/>
          <a:ln w="27940">
            <a:solidFill>
              <a:srgbClr val="3DDC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F5FBD1-6532-87AC-EDA3-2BB844713822}"/>
              </a:ext>
            </a:extLst>
          </p:cNvPr>
          <p:cNvSpPr/>
          <p:nvPr/>
        </p:nvSpPr>
        <p:spPr>
          <a:xfrm>
            <a:off x="9901507" y="2267712"/>
            <a:ext cx="128738" cy="32918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83883E95-B0CE-03D8-B885-F78F2AE4B2A7}"/>
              </a:ext>
            </a:extLst>
          </p:cNvPr>
          <p:cNvSpPr/>
          <p:nvPr/>
        </p:nvSpPr>
        <p:spPr>
          <a:xfrm>
            <a:off x="695185" y="3803904"/>
            <a:ext cx="10945368" cy="24284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</a:rPr>
              <a:t>• C++ is the source of truth for rules.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After each move it saves the board into gamestate.txt.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Python reads this file, reconstructs GameState and creates tensors.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The same state format is used by bots, training and the web UI.</a:t>
            </a:r>
            <a:endParaRPr lang="en-US" sz="13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C++ engine: board as a graph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4645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The engine run the rules and produces a deterministic GameState</a:t>
            </a:r>
            <a:endParaRPr lang="en-US" sz="1250" noProof="1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892040" cy="4873752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noProof="1">
                <a:solidFill>
                  <a:srgbClr val="F97316"/>
                </a:solidFill>
              </a:rPr>
              <a:t>C++ responsibilities</a:t>
            </a:r>
            <a:endParaRPr lang="en-US" sz="1900" noProof="1"/>
          </a:p>
        </p:txBody>
      </p:sp>
      <p:sp>
        <p:nvSpPr>
          <p:cNvPr id="9" name="Text 7"/>
          <p:cNvSpPr/>
          <p:nvPr/>
        </p:nvSpPr>
        <p:spPr>
          <a:xfrm>
            <a:off x="1005840" y="2057399"/>
            <a:ext cx="4160520" cy="33929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</a:rPr>
              <a:t>• build board graph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store neighbours in 8 directions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check legal moves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remove used edges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detect goals and dead ends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handle bounce turns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save deterministic GameState</a:t>
            </a:r>
            <a:endParaRPr lang="en-US" sz="1300" noProof="1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65708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1" name="Text 9"/>
          <p:cNvSpPr/>
          <p:nvPr/>
        </p:nvSpPr>
        <p:spPr>
          <a:xfrm>
            <a:off x="62179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1">
                <a:solidFill>
                  <a:srgbClr val="3DDC84"/>
                </a:solidFill>
              </a:rPr>
              <a:t>State is compact</a:t>
            </a:r>
            <a:endParaRPr lang="en-US" sz="1800" noProof="1"/>
          </a:p>
        </p:txBody>
      </p:sp>
      <p:sp>
        <p:nvSpPr>
          <p:cNvPr id="12" name="Text 10"/>
          <p:cNvSpPr/>
          <p:nvPr/>
        </p:nvSpPr>
        <p:spPr>
          <a:xfrm>
            <a:off x="6263640" y="1956816"/>
            <a:ext cx="47548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current_player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current_vertex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allowed[vertex][direction]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extra_turn[vertex]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neighbours[vertex][direction]</a:t>
            </a:r>
            <a:endParaRPr lang="en-US" sz="1300" noProof="1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3C0181B8-CA72-4944-2C7E-CBAEF9039C24}"/>
              </a:ext>
            </a:extLst>
          </p:cNvPr>
          <p:cNvSpPr/>
          <p:nvPr/>
        </p:nvSpPr>
        <p:spPr>
          <a:xfrm>
            <a:off x="5989320" y="3629687"/>
            <a:ext cx="5440680" cy="247850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</a:rPr>
              <a:t>• The state is compact but contains all information about the state of game.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allowed[v][d] stores open edges.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extra_turn[v] marks visited / bounce vertices.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Bots only choose directions - legal moves are still checked by the engine.</a:t>
            </a:r>
            <a:endParaRPr lang="en-US" sz="13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Bot modes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We implemented a baseline, a search expert and a neural bot</a:t>
            </a:r>
            <a:endParaRPr lang="en-US" sz="1250" noProof="1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246120" cy="3503930"/>
          </a:xfrm>
          <a:prstGeom prst="roundRect">
            <a:avLst>
              <a:gd name="adj" fmla="val 3380"/>
            </a:avLst>
          </a:prstGeom>
          <a:solidFill>
            <a:srgbClr val="101826"/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Shape 6"/>
          <p:cNvSpPr/>
          <p:nvPr/>
        </p:nvSpPr>
        <p:spPr>
          <a:xfrm>
            <a:off x="868680" y="169164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9" name="Text 7"/>
          <p:cNvSpPr/>
          <p:nvPr/>
        </p:nvSpPr>
        <p:spPr>
          <a:xfrm>
            <a:off x="146304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1">
                <a:solidFill>
                  <a:srgbClr val="F8FAFC"/>
                </a:solidFill>
              </a:rPr>
              <a:t>Heuristic</a:t>
            </a:r>
            <a:endParaRPr lang="en-US" sz="2200" noProof="1"/>
          </a:p>
        </p:txBody>
      </p:sp>
      <p:sp>
        <p:nvSpPr>
          <p:cNvPr id="10" name="Text 8"/>
          <p:cNvSpPr/>
          <p:nvPr/>
        </p:nvSpPr>
        <p:spPr>
          <a:xfrm>
            <a:off x="1481328" y="2075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one-step score</a:t>
            </a:r>
            <a:endParaRPr lang="en-US" sz="1050" noProof="1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25146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progress to goal</a:t>
            </a:r>
            <a:endParaRPr lang="pl-PL" sz="1300" noProof="1">
              <a:solidFill>
                <a:srgbClr val="F8FAF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mobility bonus</a:t>
            </a:r>
            <a:endParaRPr lang="pl-PL" sz="1300" noProof="1">
              <a:solidFill>
                <a:srgbClr val="F8FAF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trap penalty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3246120" cy="3503930"/>
          </a:xfrm>
          <a:prstGeom prst="roundRect">
            <a:avLst>
              <a:gd name="adj" fmla="val 3380"/>
            </a:avLst>
          </a:prstGeom>
          <a:solidFill>
            <a:srgbClr val="101826"/>
          </a:solidFill>
          <a:ln w="12700">
            <a:solidFill>
              <a:srgbClr val="7C3AE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4" name="Shape 12"/>
          <p:cNvSpPr/>
          <p:nvPr/>
        </p:nvSpPr>
        <p:spPr>
          <a:xfrm>
            <a:off x="4617720" y="169164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5" name="Text 13"/>
          <p:cNvSpPr/>
          <p:nvPr/>
        </p:nvSpPr>
        <p:spPr>
          <a:xfrm>
            <a:off x="521208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1">
                <a:solidFill>
                  <a:srgbClr val="F8FAFC"/>
                </a:solidFill>
              </a:rPr>
              <a:t>Search</a:t>
            </a:r>
            <a:endParaRPr lang="en-US" sz="2200" noProof="1"/>
          </a:p>
        </p:txBody>
      </p:sp>
      <p:sp>
        <p:nvSpPr>
          <p:cNvPr id="16" name="Text 14"/>
          <p:cNvSpPr/>
          <p:nvPr/>
        </p:nvSpPr>
        <p:spPr>
          <a:xfrm>
            <a:off x="5230368" y="2075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negamax + pruning</a:t>
            </a:r>
            <a:endParaRPr lang="en-US" sz="1050" noProof="1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25146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simulates future moves</a:t>
            </a:r>
            <a:endParaRPr lang="pl-PL" sz="1300" noProof="1">
              <a:solidFill>
                <a:srgbClr val="F8FAF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alpha-beta pruning</a:t>
            </a:r>
            <a:endParaRPr lang="pl-PL" sz="1300" noProof="1">
              <a:solidFill>
                <a:srgbClr val="F8FAF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heuristic at leaf nodes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83880" y="1417320"/>
            <a:ext cx="3246120" cy="3503930"/>
          </a:xfrm>
          <a:prstGeom prst="roundRect">
            <a:avLst>
              <a:gd name="adj" fmla="val 3380"/>
            </a:avLst>
          </a:prstGeom>
          <a:solidFill>
            <a:srgbClr val="101826"/>
          </a:solidFill>
          <a:ln w="12700">
            <a:solidFill>
              <a:srgbClr val="3DDC8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0" name="Shape 18"/>
          <p:cNvSpPr/>
          <p:nvPr/>
        </p:nvSpPr>
        <p:spPr>
          <a:xfrm>
            <a:off x="8366760" y="1691640"/>
            <a:ext cx="475488" cy="47548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1" name="Text 19"/>
          <p:cNvSpPr/>
          <p:nvPr/>
        </p:nvSpPr>
        <p:spPr>
          <a:xfrm>
            <a:off x="8961120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noProof="1">
                <a:solidFill>
                  <a:srgbClr val="F8FAFC"/>
                </a:solidFill>
              </a:rPr>
              <a:t>Neural</a:t>
            </a:r>
            <a:endParaRPr lang="en-US" sz="2200" noProof="1"/>
          </a:p>
        </p:txBody>
      </p:sp>
      <p:sp>
        <p:nvSpPr>
          <p:cNvPr id="22" name="Text 20"/>
          <p:cNvSpPr/>
          <p:nvPr/>
        </p:nvSpPr>
        <p:spPr>
          <a:xfrm>
            <a:off x="8979408" y="20756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1">
                <a:solidFill>
                  <a:srgbClr val="B7C0D1"/>
                </a:solidFill>
              </a:rPr>
              <a:t>trained policy</a:t>
            </a:r>
            <a:endParaRPr lang="en-US" sz="1050" noProof="1"/>
          </a:p>
        </p:txBody>
      </p:sp>
      <p:sp>
        <p:nvSpPr>
          <p:cNvPr id="23" name="Text 21"/>
          <p:cNvSpPr/>
          <p:nvPr/>
        </p:nvSpPr>
        <p:spPr>
          <a:xfrm>
            <a:off x="8595360" y="2743200"/>
            <a:ext cx="25146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vector → 8 scores</a:t>
            </a:r>
            <a:endParaRPr lang="pl-PL" sz="1300" noProof="1">
              <a:solidFill>
                <a:srgbClr val="F8FAF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illegal move masking</a:t>
            </a:r>
            <a:endParaRPr lang="pl-PL" sz="1300" noProof="1">
              <a:solidFill>
                <a:srgbClr val="F8FAF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learns from search expert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23384481-D0DE-F9DD-351E-3969C26CB261}"/>
              </a:ext>
            </a:extLst>
          </p:cNvPr>
          <p:cNvSpPr/>
          <p:nvPr/>
        </p:nvSpPr>
        <p:spPr>
          <a:xfrm>
            <a:off x="502920" y="5309616"/>
            <a:ext cx="47866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noProof="1">
                <a:solidFill>
                  <a:srgbClr val="B7C0D1"/>
                </a:solidFill>
              </a:rPr>
              <a:t>score = 3.0 * progress + 1.0 * mobility + 0.8 * extra - trap_penalty</a:t>
            </a:r>
            <a:endParaRPr lang="en-US" sz="1300" b="1" noProof="1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8A1AE4F-FF91-8242-58FF-E4920C33241F}"/>
              </a:ext>
            </a:extLst>
          </p:cNvPr>
          <p:cNvSpPr/>
          <p:nvPr/>
        </p:nvSpPr>
        <p:spPr>
          <a:xfrm>
            <a:off x="5922010" y="5304282"/>
            <a:ext cx="5767070" cy="937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noProof="1">
                <a:solidFill>
                  <a:srgbClr val="B7C0D1"/>
                </a:solidFill>
              </a:rPr>
              <a:t>progress</a:t>
            </a:r>
            <a:r>
              <a:rPr lang="en-US" sz="1300" noProof="1">
                <a:solidFill>
                  <a:srgbClr val="B7C0D1"/>
                </a:solidFill>
              </a:rPr>
              <a:t>  </a:t>
            </a:r>
            <a:r>
              <a:rPr lang="pl-PL" sz="1300" noProof="1">
                <a:solidFill>
                  <a:srgbClr val="B7C0D1"/>
                </a:solidFill>
              </a:rPr>
              <a:t>         </a:t>
            </a:r>
            <a:r>
              <a:rPr lang="en-US" sz="1300" noProof="1">
                <a:solidFill>
                  <a:srgbClr val="B7C0D1"/>
                </a:solidFill>
              </a:rPr>
              <a:t>= how much the move goes toward the opponent’s goal</a:t>
            </a:r>
          </a:p>
          <a:p>
            <a:r>
              <a:rPr lang="en-US" sz="1300" b="1" noProof="1">
                <a:solidFill>
                  <a:srgbClr val="B7C0D1"/>
                </a:solidFill>
              </a:rPr>
              <a:t>mobility</a:t>
            </a:r>
            <a:r>
              <a:rPr lang="en-US" sz="1300" noProof="1">
                <a:solidFill>
                  <a:srgbClr val="B7C0D1"/>
                </a:solidFill>
              </a:rPr>
              <a:t>  </a:t>
            </a:r>
            <a:r>
              <a:rPr lang="pl-PL" sz="1300" noProof="1">
                <a:solidFill>
                  <a:srgbClr val="B7C0D1"/>
                </a:solidFill>
              </a:rPr>
              <a:t>          </a:t>
            </a:r>
            <a:r>
              <a:rPr lang="en-US" sz="1300" noProof="1">
                <a:solidFill>
                  <a:srgbClr val="B7C0D1"/>
                </a:solidFill>
              </a:rPr>
              <a:t>= number of available moves from the next vertex / 8</a:t>
            </a:r>
          </a:p>
          <a:p>
            <a:r>
              <a:rPr lang="en-US" sz="1300" b="1" noProof="1">
                <a:solidFill>
                  <a:srgbClr val="B7C0D1"/>
                </a:solidFill>
              </a:rPr>
              <a:t>extra</a:t>
            </a:r>
            <a:r>
              <a:rPr lang="en-US" sz="1300" noProof="1">
                <a:solidFill>
                  <a:srgbClr val="B7C0D1"/>
                </a:solidFill>
              </a:rPr>
              <a:t>     </a:t>
            </a:r>
            <a:r>
              <a:rPr lang="pl-PL" sz="1300" noProof="1">
                <a:solidFill>
                  <a:srgbClr val="B7C0D1"/>
                </a:solidFill>
              </a:rPr>
              <a:t>              </a:t>
            </a:r>
            <a:r>
              <a:rPr lang="en-US" sz="1300" noProof="1">
                <a:solidFill>
                  <a:srgbClr val="B7C0D1"/>
                </a:solidFill>
              </a:rPr>
              <a:t>= bonus if the move lands on a bounce / visited vertex</a:t>
            </a:r>
          </a:p>
          <a:p>
            <a:r>
              <a:rPr lang="en-US" sz="1300" b="1" noProof="1">
                <a:solidFill>
                  <a:srgbClr val="B7C0D1"/>
                </a:solidFill>
              </a:rPr>
              <a:t>trap_penalty </a:t>
            </a:r>
            <a:r>
              <a:rPr lang="pl-PL" sz="1300" b="1" noProof="1">
                <a:solidFill>
                  <a:srgbClr val="B7C0D1"/>
                </a:solidFill>
              </a:rPr>
              <a:t> </a:t>
            </a:r>
            <a:r>
              <a:rPr lang="en-US" sz="1300" noProof="1">
                <a:solidFill>
                  <a:srgbClr val="B7C0D1"/>
                </a:solidFill>
              </a:rPr>
              <a:t>=</a:t>
            </a:r>
            <a:r>
              <a:rPr lang="pl-PL" sz="1300" noProof="1">
                <a:solidFill>
                  <a:srgbClr val="B7C0D1"/>
                </a:solidFill>
              </a:rPr>
              <a:t> </a:t>
            </a:r>
            <a:r>
              <a:rPr lang="en-US" sz="1300" noProof="1">
                <a:solidFill>
                  <a:srgbClr val="B7C0D1"/>
                </a:solidFill>
              </a:rPr>
              <a:t>5.0 if mobility == 0</a:t>
            </a:r>
            <a:r>
              <a:rPr lang="pl-PL" sz="1300" noProof="1">
                <a:solidFill>
                  <a:srgbClr val="B7C0D1"/>
                </a:solidFill>
              </a:rPr>
              <a:t>, </a:t>
            </a:r>
            <a:r>
              <a:rPr lang="en-US" sz="1300" noProof="1">
                <a:solidFill>
                  <a:srgbClr val="B7C0D1"/>
                </a:solidFill>
              </a:rPr>
              <a:t>1.5 if mobility &lt;= 0.125</a:t>
            </a:r>
            <a:r>
              <a:rPr lang="pl-PL" sz="1300" noProof="1">
                <a:solidFill>
                  <a:srgbClr val="B7C0D1"/>
                </a:solidFill>
              </a:rPr>
              <a:t>, </a:t>
            </a:r>
            <a:r>
              <a:rPr lang="en-US" sz="1300" noProof="1">
                <a:solidFill>
                  <a:srgbClr val="B7C0D1"/>
                </a:solidFill>
              </a:rPr>
              <a:t>0.0 otherwise</a:t>
            </a:r>
            <a:endParaRPr lang="en-US" sz="13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Dataset generation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4116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The neural bot learns from search-generated expert labels</a:t>
            </a:r>
            <a:endParaRPr lang="en-US" sz="1250" noProof="1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01826"/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795528" y="170078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noProof="1">
                <a:solidFill>
                  <a:srgbClr val="F8FAFC"/>
                </a:solidFill>
              </a:rPr>
              <a:t>Initial GameState</a:t>
            </a:r>
            <a:endParaRPr lang="en-US" sz="1250" noProof="1"/>
          </a:p>
        </p:txBody>
      </p:sp>
      <p:sp>
        <p:nvSpPr>
          <p:cNvPr id="9" name="Shape 7"/>
          <p:cNvSpPr/>
          <p:nvPr/>
        </p:nvSpPr>
        <p:spPr>
          <a:xfrm>
            <a:off x="297180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01826"/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0" name="Text 8"/>
          <p:cNvSpPr/>
          <p:nvPr/>
        </p:nvSpPr>
        <p:spPr>
          <a:xfrm>
            <a:off x="3081528" y="170078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noProof="1">
                <a:solidFill>
                  <a:srgbClr val="F8FAFC"/>
                </a:solidFill>
              </a:rPr>
              <a:t>Simulated games</a:t>
            </a:r>
            <a:endParaRPr lang="en-US" sz="1250" noProof="1"/>
          </a:p>
        </p:txBody>
      </p:sp>
      <p:sp>
        <p:nvSpPr>
          <p:cNvPr id="11" name="Shape 9"/>
          <p:cNvSpPr/>
          <p:nvPr/>
        </p:nvSpPr>
        <p:spPr>
          <a:xfrm>
            <a:off x="525780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01826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2" name="Text 10"/>
          <p:cNvSpPr/>
          <p:nvPr/>
        </p:nvSpPr>
        <p:spPr>
          <a:xfrm>
            <a:off x="5367528" y="170078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noProof="1">
                <a:solidFill>
                  <a:srgbClr val="F8FAFC"/>
                </a:solidFill>
              </a:rPr>
              <a:t>Search expert</a:t>
            </a:r>
            <a:endParaRPr lang="en-US" sz="1250" noProof="1"/>
          </a:p>
        </p:txBody>
      </p:sp>
      <p:sp>
        <p:nvSpPr>
          <p:cNvPr id="13" name="Shape 11"/>
          <p:cNvSpPr/>
          <p:nvPr/>
        </p:nvSpPr>
        <p:spPr>
          <a:xfrm>
            <a:off x="754380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01826"/>
          </a:solidFill>
          <a:ln w="12700">
            <a:solidFill>
              <a:srgbClr val="3DDC8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4" name="Text 12"/>
          <p:cNvSpPr/>
          <p:nvPr/>
        </p:nvSpPr>
        <p:spPr>
          <a:xfrm>
            <a:off x="7653528" y="170078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noProof="1">
                <a:solidFill>
                  <a:srgbClr val="F8FAFC"/>
                </a:solidFill>
              </a:rPr>
              <a:t>Tensors saved</a:t>
            </a:r>
            <a:endParaRPr lang="en-US" sz="1250" noProof="1"/>
          </a:p>
        </p:txBody>
      </p:sp>
      <p:sp>
        <p:nvSpPr>
          <p:cNvPr id="15" name="Shape 13"/>
          <p:cNvSpPr/>
          <p:nvPr/>
        </p:nvSpPr>
        <p:spPr>
          <a:xfrm>
            <a:off x="982980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01826"/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6" name="Text 14"/>
          <p:cNvSpPr/>
          <p:nvPr/>
        </p:nvSpPr>
        <p:spPr>
          <a:xfrm>
            <a:off x="9939528" y="170078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noProof="1">
                <a:solidFill>
                  <a:srgbClr val="F8FAFC"/>
                </a:solidFill>
              </a:rPr>
              <a:t>Training set</a:t>
            </a:r>
            <a:endParaRPr lang="en-US" sz="1250" noProof="1"/>
          </a:p>
        </p:txBody>
      </p:sp>
      <p:sp>
        <p:nvSpPr>
          <p:cNvPr id="17" name="Shape 15"/>
          <p:cNvSpPr/>
          <p:nvPr/>
        </p:nvSpPr>
        <p:spPr>
          <a:xfrm>
            <a:off x="2532888" y="1828800"/>
            <a:ext cx="329184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8" name="Shape 16"/>
          <p:cNvSpPr/>
          <p:nvPr/>
        </p:nvSpPr>
        <p:spPr>
          <a:xfrm>
            <a:off x="4818888" y="1828800"/>
            <a:ext cx="329184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9" name="Shape 17"/>
          <p:cNvSpPr/>
          <p:nvPr/>
        </p:nvSpPr>
        <p:spPr>
          <a:xfrm>
            <a:off x="7104888" y="1828800"/>
            <a:ext cx="329184" cy="0"/>
          </a:xfrm>
          <a:prstGeom prst="line">
            <a:avLst/>
          </a:prstGeom>
          <a:noFill/>
          <a:ln w="27940">
            <a:solidFill>
              <a:srgbClr val="3DDC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0" name="Shape 18"/>
          <p:cNvSpPr/>
          <p:nvPr/>
        </p:nvSpPr>
        <p:spPr>
          <a:xfrm>
            <a:off x="9390888" y="1828800"/>
            <a:ext cx="329184" cy="0"/>
          </a:xfrm>
          <a:prstGeom prst="line">
            <a:avLst/>
          </a:prstGeom>
          <a:noFill/>
          <a:ln w="27940">
            <a:solidFill>
              <a:srgbClr val="60A5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1" name="Shape 19"/>
          <p:cNvSpPr/>
          <p:nvPr/>
        </p:nvSpPr>
        <p:spPr>
          <a:xfrm>
            <a:off x="822960" y="297180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2" name="Text 20"/>
          <p:cNvSpPr/>
          <p:nvPr/>
        </p:nvSpPr>
        <p:spPr>
          <a:xfrm>
            <a:off x="1051560" y="3246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noProof="1">
                <a:solidFill>
                  <a:srgbClr val="3DDC84"/>
                </a:solidFill>
              </a:rPr>
              <a:t>Generation settings</a:t>
            </a:r>
            <a:endParaRPr lang="en-US" sz="1700" noProof="1"/>
          </a:p>
        </p:txBody>
      </p:sp>
      <p:sp>
        <p:nvSpPr>
          <p:cNvPr id="23" name="Text 21"/>
          <p:cNvSpPr/>
          <p:nvPr/>
        </p:nvSpPr>
        <p:spPr>
          <a:xfrm>
            <a:off x="105156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games_count = 10000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max_moves = 400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 = 0.30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expert_depth = 5</a:t>
            </a:r>
            <a:endParaRPr lang="en-US" sz="1300" noProof="1"/>
          </a:p>
        </p:txBody>
      </p:sp>
      <p:sp>
        <p:nvSpPr>
          <p:cNvPr id="24" name="Shape 22"/>
          <p:cNvSpPr/>
          <p:nvPr/>
        </p:nvSpPr>
        <p:spPr>
          <a:xfrm>
            <a:off x="4480560" y="297180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5" name="Text 23"/>
          <p:cNvSpPr/>
          <p:nvPr/>
        </p:nvSpPr>
        <p:spPr>
          <a:xfrm>
            <a:off x="4709160" y="3246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noProof="1">
                <a:solidFill>
                  <a:srgbClr val="F97316"/>
                </a:solidFill>
              </a:rPr>
              <a:t>Epsilon exploration</a:t>
            </a:r>
            <a:endParaRPr lang="en-US" sz="1700" noProof="1"/>
          </a:p>
        </p:txBody>
      </p:sp>
      <p:sp>
        <p:nvSpPr>
          <p:cNvPr id="26" name="Text 24"/>
          <p:cNvSpPr/>
          <p:nvPr/>
        </p:nvSpPr>
        <p:spPr>
          <a:xfrm>
            <a:off x="470916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B7C0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70% best expert move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noProof="1">
                <a:solidFill>
                  <a:srgbClr val="B7C0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30% random legal move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38160" y="2971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8" name="Text 26"/>
          <p:cNvSpPr/>
          <p:nvPr/>
        </p:nvSpPr>
        <p:spPr>
          <a:xfrm>
            <a:off x="8366760" y="3246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noProof="1">
                <a:solidFill>
                  <a:srgbClr val="60A5FA"/>
                </a:solidFill>
              </a:rPr>
              <a:t>Saved tensors</a:t>
            </a:r>
            <a:endParaRPr lang="en-US" sz="1700" noProof="1"/>
          </a:p>
        </p:txBody>
      </p:sp>
      <p:sp>
        <p:nvSpPr>
          <p:cNvPr id="29" name="Text 27"/>
          <p:cNvSpPr/>
          <p:nvPr/>
        </p:nvSpPr>
        <p:spPr>
          <a:xfrm>
            <a:off x="8366760" y="3703320"/>
            <a:ext cx="318211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states.pt → board vectors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targets.pt → scores for 8 moves</a:t>
            </a:r>
            <a:endParaRPr lang="en-US" sz="1300" noProof="1"/>
          </a:p>
          <a:p>
            <a:pPr marL="0" indent="0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legal_masks.pt → legal move mask</a:t>
            </a:r>
            <a:endParaRPr lang="en-US" sz="1300" noProof="1"/>
          </a:p>
          <a:p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best_moves.pt → best search move</a:t>
            </a:r>
            <a:endParaRPr lang="en-US" sz="1300" noProof="1"/>
          </a:p>
        </p:txBody>
      </p:sp>
      <p:sp>
        <p:nvSpPr>
          <p:cNvPr id="30" name="Text 28"/>
          <p:cNvSpPr/>
          <p:nvPr/>
        </p:nvSpPr>
        <p:spPr>
          <a:xfrm>
            <a:off x="914400" y="5532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noProof="1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B3ED0106-BEE9-E707-868F-32F0C8C73C3F}"/>
              </a:ext>
            </a:extLst>
          </p:cNvPr>
          <p:cNvSpPr/>
          <p:nvPr/>
        </p:nvSpPr>
        <p:spPr>
          <a:xfrm>
            <a:off x="502920" y="5385335"/>
            <a:ext cx="11155680" cy="115262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r>
              <a:rPr lang="en-US" sz="1300" noProof="1">
                <a:solidFill>
                  <a:srgbClr val="F8FAFC"/>
                </a:solidFill>
              </a:rPr>
              <a:t>• For each generated state, the search bot evaluates all legal moves.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Then we save: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state vector + expert scores + legal mask + best move.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epsilon = 0.30 gives exploration: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70% expert move, 30% random legal move.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The random move only changes the path </a:t>
            </a:r>
            <a:r>
              <a:rPr lang="pl-PL" sz="1300" noProof="1">
                <a:solidFill>
                  <a:srgbClr val="F8FAFC"/>
                </a:solidFill>
              </a:rPr>
              <a:t>-</a:t>
            </a:r>
            <a:r>
              <a:rPr lang="en-US" sz="1300" noProof="1">
                <a:solidFill>
                  <a:srgbClr val="F8FAFC"/>
                </a:solidFill>
              </a:rPr>
              <a:t> labels still come from search.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Expert scores are clamped to [-20, 20] and normalized before training.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Duplicate states are skipped.</a:t>
            </a:r>
            <a:endParaRPr lang="en-US" sz="13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Neural network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The model predicts a score for every direction, then masks illegal moves</a:t>
            </a:r>
            <a:endParaRPr lang="en-US" sz="1250" noProof="1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834640" cy="306324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noProof="1">
                <a:solidFill>
                  <a:srgbClr val="60A5FA"/>
                </a:solidFill>
              </a:rPr>
              <a:t>Input state</a:t>
            </a:r>
            <a:endParaRPr lang="en-US" sz="1900" noProof="1"/>
          </a:p>
        </p:txBody>
      </p:sp>
      <p:sp>
        <p:nvSpPr>
          <p:cNvPr id="9" name="Text 7"/>
          <p:cNvSpPr/>
          <p:nvPr/>
        </p:nvSpPr>
        <p:spPr>
          <a:xfrm>
            <a:off x="1005840" y="2093976"/>
            <a:ext cx="210312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/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 player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ball position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allowed edges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1300" noProof="1">
                <a:solidFill>
                  <a:srgbClr val="F8FA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bounce vertices</a:t>
            </a:r>
            <a:endParaRPr lang="en-US" sz="13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384505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noProof="1">
                <a:solidFill>
                  <a:srgbClr val="B7C0D1"/>
                </a:solidFill>
              </a:rPr>
              <a:t>≈ 1531 features</a:t>
            </a:r>
            <a:endParaRPr lang="en-US" sz="1200" noProof="1"/>
          </a:p>
        </p:txBody>
      </p:sp>
      <p:sp>
        <p:nvSpPr>
          <p:cNvPr id="11" name="Shape 9"/>
          <p:cNvSpPr/>
          <p:nvPr/>
        </p:nvSpPr>
        <p:spPr>
          <a:xfrm>
            <a:off x="3566160" y="2971800"/>
            <a:ext cx="731520" cy="0"/>
          </a:xfrm>
          <a:prstGeom prst="line">
            <a:avLst/>
          </a:prstGeom>
          <a:noFill/>
          <a:ln w="27940">
            <a:solidFill>
              <a:srgbClr val="3DDC8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063240" cy="3063240"/>
          </a:xfrm>
          <a:prstGeom prst="roundRect">
            <a:avLst>
              <a:gd name="adj" fmla="val 3582"/>
            </a:avLst>
          </a:prstGeom>
          <a:solidFill>
            <a:srgbClr val="0F172A"/>
          </a:solidFill>
          <a:ln w="12700">
            <a:solidFill>
              <a:srgbClr val="3DDC8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3" name="Text 11"/>
          <p:cNvSpPr/>
          <p:nvPr/>
        </p:nvSpPr>
        <p:spPr>
          <a:xfrm>
            <a:off x="4572000" y="16916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noProof="1">
                <a:solidFill>
                  <a:srgbClr val="3DDC84"/>
                </a:solidFill>
              </a:rPr>
              <a:t>MLP policy</a:t>
            </a:r>
            <a:endParaRPr lang="en-US" sz="1900" noProof="1"/>
          </a:p>
        </p:txBody>
      </p:sp>
      <p:sp>
        <p:nvSpPr>
          <p:cNvPr id="14" name="Text 12"/>
          <p:cNvSpPr/>
          <p:nvPr/>
        </p:nvSpPr>
        <p:spPr>
          <a:xfrm>
            <a:off x="4754880" y="2098802"/>
            <a:ext cx="224028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layers</a:t>
            </a:r>
            <a:endParaRPr lang="en-US" sz="1300" noProof="1"/>
          </a:p>
          <a:p>
            <a:pPr marL="0" indent="0" algn="ctr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endParaRPr lang="en-US" sz="1300" noProof="1"/>
          </a:p>
          <a:p>
            <a:pPr marL="0" indent="0" algn="ctr">
              <a:buNone/>
            </a:pPr>
            <a:r>
              <a:rPr lang="en-US" sz="130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AdamW training</a:t>
            </a:r>
            <a:endParaRPr lang="pl-PL" sz="1300" noProof="1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ctr">
              <a:buNone/>
            </a:pPr>
            <a:endParaRPr lang="en-US" sz="1300" noProof="1"/>
          </a:p>
        </p:txBody>
      </p:sp>
      <p:sp>
        <p:nvSpPr>
          <p:cNvPr id="15" name="Shape 13"/>
          <p:cNvSpPr/>
          <p:nvPr/>
        </p:nvSpPr>
        <p:spPr>
          <a:xfrm>
            <a:off x="7406640" y="2971800"/>
            <a:ext cx="7315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0F172A"/>
          </a:solidFill>
          <a:ln w="12700">
            <a:solidFill>
              <a:srgbClr val="7C3AE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7" name="Text 15"/>
          <p:cNvSpPr/>
          <p:nvPr/>
        </p:nvSpPr>
        <p:spPr>
          <a:xfrm>
            <a:off x="8412480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noProof="1">
                <a:solidFill>
                  <a:srgbClr val="7C3AED"/>
                </a:solidFill>
              </a:rPr>
              <a:t>8 move scores</a:t>
            </a:r>
            <a:endParaRPr lang="en-US" sz="1900" noProof="1"/>
          </a:p>
        </p:txBody>
      </p:sp>
      <p:sp>
        <p:nvSpPr>
          <p:cNvPr id="18" name="Text 16"/>
          <p:cNvSpPr/>
          <p:nvPr/>
        </p:nvSpPr>
        <p:spPr>
          <a:xfrm>
            <a:off x="8778240" y="2093976"/>
            <a:ext cx="2011680" cy="9216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1250" noProof="1"/>
          </a:p>
          <a:p>
            <a:pPr marL="0" indent="0" algn="ctr">
              <a:buNone/>
            </a:pPr>
            <a:r>
              <a:rPr lang="en-US" sz="125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up-right</a:t>
            </a:r>
            <a:endParaRPr lang="en-US" sz="1250" noProof="1"/>
          </a:p>
          <a:p>
            <a:pPr marL="0" indent="0" algn="ctr">
              <a:buNone/>
            </a:pPr>
            <a:r>
              <a:rPr lang="en-US" sz="125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250" noProof="1"/>
          </a:p>
          <a:p>
            <a:pPr marL="0" indent="0" algn="ctr">
              <a:buNone/>
            </a:pPr>
            <a:r>
              <a:rPr lang="en-US" sz="125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50" noProof="1"/>
          </a:p>
          <a:p>
            <a:pPr marL="0" indent="0" algn="ctr">
              <a:buNone/>
            </a:pPr>
            <a:r>
              <a:rPr lang="en-US" sz="1250" noProof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up-left</a:t>
            </a:r>
            <a:endParaRPr lang="en-US" sz="1250" noProof="1"/>
          </a:p>
        </p:txBody>
      </p:sp>
      <p:sp>
        <p:nvSpPr>
          <p:cNvPr id="19" name="Shape 17"/>
          <p:cNvSpPr/>
          <p:nvPr/>
        </p:nvSpPr>
        <p:spPr>
          <a:xfrm>
            <a:off x="8732520" y="3822193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0" name="Text 18"/>
          <p:cNvSpPr/>
          <p:nvPr/>
        </p:nvSpPr>
        <p:spPr>
          <a:xfrm>
            <a:off x="8805672" y="3895344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noProof="1">
                <a:solidFill>
                  <a:srgbClr val="F8FAFC"/>
                </a:solidFill>
              </a:rPr>
              <a:t>illegal moves are masked</a:t>
            </a:r>
            <a:endParaRPr lang="en-US" sz="930" noProof="1"/>
          </a:p>
        </p:txBody>
      </p:sp>
      <p:sp>
        <p:nvSpPr>
          <p:cNvPr id="21" name="Shape 19"/>
          <p:cNvSpPr/>
          <p:nvPr/>
        </p:nvSpPr>
        <p:spPr>
          <a:xfrm>
            <a:off x="914400" y="4983479"/>
            <a:ext cx="4892040" cy="1554478"/>
          </a:xfrm>
          <a:prstGeom prst="roundRect">
            <a:avLst>
              <a:gd name="adj" fmla="val 14118"/>
            </a:avLst>
          </a:prstGeom>
          <a:solidFill>
            <a:srgbClr val="182033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2" name="Text 20"/>
          <p:cNvSpPr/>
          <p:nvPr/>
        </p:nvSpPr>
        <p:spPr>
          <a:xfrm>
            <a:off x="1097280" y="5157216"/>
            <a:ext cx="4526280" cy="1219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noProof="1">
                <a:solidFill>
                  <a:srgbClr val="F8FAFC"/>
                </a:solidFill>
              </a:rPr>
              <a:t>Loss combines two signals:</a:t>
            </a:r>
          </a:p>
          <a:p>
            <a:r>
              <a:rPr lang="en-US" sz="1300" noProof="1">
                <a:solidFill>
                  <a:srgbClr val="F8FAFC"/>
                </a:solidFill>
              </a:rPr>
              <a:t>• soft target loss </a:t>
            </a:r>
            <a:r>
              <a:rPr lang="pl-PL" sz="1300" noProof="1">
                <a:solidFill>
                  <a:srgbClr val="F8FAFC"/>
                </a:solidFill>
              </a:rPr>
              <a:t>- it</a:t>
            </a:r>
            <a:r>
              <a:rPr lang="en-US" sz="1300" noProof="1">
                <a:solidFill>
                  <a:srgbClr val="F8FAFC"/>
                </a:solidFill>
              </a:rPr>
              <a:t> learns full expert score distribution</a:t>
            </a:r>
          </a:p>
          <a:p>
            <a:r>
              <a:rPr lang="en-US" sz="1300" noProof="1">
                <a:solidFill>
                  <a:srgbClr val="F8FAFC"/>
                </a:solidFill>
              </a:rPr>
              <a:t>• hard CE loss </a:t>
            </a:r>
            <a:r>
              <a:rPr lang="pl-PL" sz="1300" noProof="1">
                <a:solidFill>
                  <a:srgbClr val="F8FAFC"/>
                </a:solidFill>
              </a:rPr>
              <a:t>-</a:t>
            </a:r>
            <a:r>
              <a:rPr lang="en-US" sz="1300" noProof="1">
                <a:solidFill>
                  <a:srgbClr val="F8FAFC"/>
                </a:solidFill>
              </a:rPr>
              <a:t> learns exact best move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Illegal moves are masked.</a:t>
            </a:r>
          </a:p>
          <a:p>
            <a:r>
              <a:rPr lang="en-US" sz="1300" noProof="1">
                <a:solidFill>
                  <a:srgbClr val="F8FAFC"/>
                </a:solidFill>
              </a:rPr>
              <a:t>Loss = 0.8 soft target loss + 0.2 hard CE loss</a:t>
            </a:r>
            <a:endParaRPr lang="en-US" sz="1300" noProof="1"/>
          </a:p>
        </p:txBody>
      </p:sp>
      <p:sp>
        <p:nvSpPr>
          <p:cNvPr id="23" name="Shape 21"/>
          <p:cNvSpPr/>
          <p:nvPr/>
        </p:nvSpPr>
        <p:spPr>
          <a:xfrm>
            <a:off x="6400800" y="4983479"/>
            <a:ext cx="4389120" cy="1554477"/>
          </a:xfrm>
          <a:prstGeom prst="roundRect">
            <a:avLst>
              <a:gd name="adj" fmla="val 14118"/>
            </a:avLst>
          </a:prstGeom>
          <a:solidFill>
            <a:srgbClr val="182033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E560748-EB35-C7A6-542A-3C4DFD0EAF84}"/>
              </a:ext>
            </a:extLst>
          </p:cNvPr>
          <p:cNvSpPr/>
          <p:nvPr/>
        </p:nvSpPr>
        <p:spPr>
          <a:xfrm>
            <a:off x="6615764" y="5158019"/>
            <a:ext cx="3972025" cy="1218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noProof="1">
                <a:solidFill>
                  <a:srgbClr val="F8FAFC"/>
                </a:solidFill>
              </a:rPr>
              <a:t>train_size = int(0.9 * len(dataset))</a:t>
            </a:r>
          </a:p>
          <a:p>
            <a:r>
              <a:rPr lang="en-US" sz="1300" noProof="1">
                <a:solidFill>
                  <a:srgbClr val="F8FAFC"/>
                </a:solidFill>
              </a:rPr>
              <a:t>test_size = len(dataset) - train_size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Optimizer: AdamW, lr = 0.0002</a:t>
            </a:r>
          </a:p>
          <a:p>
            <a:r>
              <a:rPr lang="en-US" sz="1300" noProof="1">
                <a:solidFill>
                  <a:srgbClr val="F8FAFC"/>
                </a:solidFill>
              </a:rPr>
              <a:t>Scheduler: ReduceLROnPlateau</a:t>
            </a:r>
          </a:p>
          <a:p>
            <a:r>
              <a:rPr lang="en-US" sz="1300" noProof="1">
                <a:solidFill>
                  <a:srgbClr val="F8FAFC"/>
                </a:solidFill>
              </a:rPr>
              <a:t>lr = lr × 0.5</a:t>
            </a:r>
            <a:r>
              <a:rPr lang="pl-PL" sz="1300" noProof="1">
                <a:solidFill>
                  <a:srgbClr val="F8FAFC"/>
                </a:solidFill>
              </a:rPr>
              <a:t>, patience = 35</a:t>
            </a:r>
            <a:endParaRPr lang="en-US" sz="1300" noProof="1">
              <a:solidFill>
                <a:srgbClr val="F8FAFC"/>
              </a:solidFill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9FFE3B96-7B16-5BD7-C8B8-C02DC105F329}"/>
              </a:ext>
            </a:extLst>
          </p:cNvPr>
          <p:cNvSpPr/>
          <p:nvPr/>
        </p:nvSpPr>
        <p:spPr>
          <a:xfrm>
            <a:off x="4709160" y="2990086"/>
            <a:ext cx="2194560" cy="14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noProof="1">
                <a:solidFill>
                  <a:srgbClr val="B7C0D1"/>
                </a:solidFill>
              </a:rPr>
              <a:t>→ Linear(input, 512) + ReLU</a:t>
            </a:r>
          </a:p>
          <a:p>
            <a:pPr algn="ctr"/>
            <a:r>
              <a:rPr lang="en-US" sz="1200" noProof="1">
                <a:solidFill>
                  <a:srgbClr val="B7C0D1"/>
                </a:solidFill>
              </a:rPr>
              <a:t>→ Linear(512, 256) + ReLU</a:t>
            </a:r>
          </a:p>
          <a:p>
            <a:pPr algn="ctr"/>
            <a:r>
              <a:rPr lang="en-US" sz="1200" noProof="1">
                <a:solidFill>
                  <a:srgbClr val="B7C0D1"/>
                </a:solidFill>
              </a:rPr>
              <a:t>→ Linear(256, 128) + ReLU</a:t>
            </a:r>
          </a:p>
          <a:p>
            <a:pPr algn="ctr"/>
            <a:r>
              <a:rPr lang="en-US" sz="1200" noProof="1">
                <a:solidFill>
                  <a:srgbClr val="B7C0D1"/>
                </a:solidFill>
              </a:rPr>
              <a:t>→ Linear(128, 8)</a:t>
            </a:r>
            <a:endParaRPr lang="en-U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Training results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3220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The model learned useful move preferences</a:t>
            </a:r>
            <a:endParaRPr lang="en-US" sz="1250" noProof="1"/>
          </a:p>
        </p:txBody>
      </p:sp>
      <p:sp>
        <p:nvSpPr>
          <p:cNvPr id="13" name="Shape 8"/>
          <p:cNvSpPr/>
          <p:nvPr/>
        </p:nvSpPr>
        <p:spPr>
          <a:xfrm>
            <a:off x="521209" y="5642409"/>
            <a:ext cx="3822192" cy="867076"/>
          </a:xfrm>
          <a:prstGeom prst="roundRect">
            <a:avLst>
              <a:gd name="adj" fmla="val 14634"/>
            </a:avLst>
          </a:prstGeom>
          <a:solidFill>
            <a:srgbClr val="0F172A"/>
          </a:solidFill>
          <a:ln w="12700">
            <a:solidFill>
              <a:srgbClr val="3DDC8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4" name="Text 9"/>
          <p:cNvSpPr/>
          <p:nvPr/>
        </p:nvSpPr>
        <p:spPr>
          <a:xfrm>
            <a:off x="806115" y="5846066"/>
            <a:ext cx="3374859" cy="6377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00" b="1" noProof="1">
                <a:solidFill>
                  <a:srgbClr val="F8FAFC"/>
                </a:solidFill>
              </a:rPr>
              <a:t>Best test accuracy: 0.5698</a:t>
            </a:r>
          </a:p>
          <a:p>
            <a:r>
              <a:rPr lang="en-US" sz="1300" b="1" noProof="1">
                <a:solidFill>
                  <a:srgbClr val="F8FAFC"/>
                </a:solidFill>
              </a:rPr>
              <a:t>Best test top-3 accuracy: 0.8955</a:t>
            </a:r>
          </a:p>
          <a:p>
            <a:endParaRPr lang="en-US" sz="1300" b="1" noProof="1">
              <a:solidFill>
                <a:srgbClr val="F8FAFC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52B5A48-6723-C731-579B-9A9A8BF0E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600" y="1108510"/>
            <a:ext cx="3667947" cy="20377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7A0ED48-63A8-614A-180C-16430865E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599" y="3256147"/>
            <a:ext cx="3667947" cy="20377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CDDC45-957D-C001-C0B7-39B0FD670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1108509"/>
            <a:ext cx="7040068" cy="4185386"/>
          </a:xfrm>
          <a:prstGeom prst="rect">
            <a:avLst/>
          </a:prstGeom>
        </p:spPr>
      </p:pic>
      <p:sp>
        <p:nvSpPr>
          <p:cNvPr id="28" name="Text 7">
            <a:extLst>
              <a:ext uri="{FF2B5EF4-FFF2-40B4-BE49-F238E27FC236}">
                <a16:creationId xmlns:a16="http://schemas.microsoft.com/office/drawing/2014/main" id="{DD449084-7CA7-6244-46F6-899BA904CA7F}"/>
              </a:ext>
            </a:extLst>
          </p:cNvPr>
          <p:cNvSpPr/>
          <p:nvPr/>
        </p:nvSpPr>
        <p:spPr>
          <a:xfrm>
            <a:off x="4864610" y="5610725"/>
            <a:ext cx="6743937" cy="8670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r>
              <a:rPr lang="en-US" sz="1300" noProof="1">
                <a:solidFill>
                  <a:srgbClr val="F8FAFC"/>
                </a:solidFill>
              </a:rPr>
              <a:t>• Accuracy plot: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exact accuracy improves steadily, while top-3 reaches almost 90%.</a:t>
            </a:r>
            <a:endParaRPr lang="pl-PL" sz="1300" noProof="1">
              <a:solidFill>
                <a:srgbClr val="F8FAFC"/>
              </a:solidFill>
            </a:endParaRPr>
          </a:p>
          <a:p>
            <a:endParaRPr lang="pl-PL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Loss plot: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training loss keeps decreasing, test loss stabilizes.</a:t>
            </a:r>
            <a:endParaRPr lang="pl-PL" sz="1300" noProof="1">
              <a:solidFill>
                <a:srgbClr val="F8FAFC"/>
              </a:solidFill>
            </a:endParaRPr>
          </a:p>
          <a:p>
            <a:endParaRPr lang="pl-PL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Learning rate plot:</a:t>
            </a:r>
            <a:r>
              <a:rPr lang="pl-PL" sz="1300" noProof="1">
                <a:solidFill>
                  <a:srgbClr val="F8FAFC"/>
                </a:solidFill>
              </a:rPr>
              <a:t> </a:t>
            </a:r>
            <a:r>
              <a:rPr lang="en-US" sz="1300" noProof="1">
                <a:solidFill>
                  <a:srgbClr val="F8FAFC"/>
                </a:solidFill>
              </a:rPr>
              <a:t>scheduler lowers LR after plateaus, allowing finer updates.</a:t>
            </a:r>
            <a:endParaRPr lang="en-US" sz="13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Evaluation</a:t>
            </a:r>
            <a:endParaRPr lang="en-US" sz="2800" noProof="1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516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noProof="1">
                <a:solidFill>
                  <a:srgbClr val="B7C0D1"/>
                </a:solidFill>
              </a:rPr>
              <a:t>The neural bot became competitive with a hand-written heuristic approach</a:t>
            </a:r>
            <a:endParaRPr lang="en-US" sz="1250" noProof="1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206240" cy="2240280"/>
          </a:xfrm>
          <a:prstGeom prst="roundRect">
            <a:avLst>
              <a:gd name="adj" fmla="val 4898"/>
            </a:avLst>
          </a:prstGeom>
          <a:solidFill>
            <a:srgbClr val="101826"/>
          </a:solidFill>
          <a:ln w="12700">
            <a:solidFill>
              <a:srgbClr val="3DDC8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1">
                <a:solidFill>
                  <a:srgbClr val="3DDC84"/>
                </a:solidFill>
              </a:rPr>
              <a:t>Final match result</a:t>
            </a:r>
            <a:endParaRPr lang="en-US" sz="2000" noProof="1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noProof="1">
                <a:solidFill>
                  <a:srgbClr val="B7C0D1"/>
                </a:solidFill>
              </a:rPr>
              <a:t>1000 games  ·  neural vs heuristic</a:t>
            </a:r>
            <a:endParaRPr lang="en-US" sz="1150" noProof="1"/>
          </a:p>
        </p:txBody>
      </p:sp>
      <p:sp>
        <p:nvSpPr>
          <p:cNvPr id="10" name="Text 8"/>
          <p:cNvSpPr/>
          <p:nvPr/>
        </p:nvSpPr>
        <p:spPr>
          <a:xfrm>
            <a:off x="1024128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noProof="1">
                <a:solidFill>
                  <a:srgbClr val="7C3AED"/>
                </a:solidFill>
              </a:rPr>
              <a:t>Neural</a:t>
            </a:r>
            <a:endParaRPr lang="en-US" sz="2200" noProof="1"/>
          </a:p>
          <a:p>
            <a:pPr marL="0" indent="0" algn="ctr">
              <a:buNone/>
            </a:pPr>
            <a:r>
              <a:rPr lang="en-US" sz="2200" b="1" noProof="1">
                <a:solidFill>
                  <a:srgbClr val="7C3AED"/>
                </a:solidFill>
              </a:rPr>
              <a:t>448 wins</a:t>
            </a:r>
            <a:endParaRPr lang="en-US" sz="2200" noProof="1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noProof="1">
                <a:solidFill>
                  <a:srgbClr val="F97316"/>
                </a:solidFill>
              </a:rPr>
              <a:t>Heuristic</a:t>
            </a:r>
            <a:endParaRPr lang="en-US" sz="2200" noProof="1"/>
          </a:p>
          <a:p>
            <a:pPr marL="0" indent="0" algn="ctr">
              <a:buNone/>
            </a:pPr>
            <a:r>
              <a:rPr lang="en-US" sz="2200" b="1" noProof="1">
                <a:solidFill>
                  <a:srgbClr val="F97316"/>
                </a:solidFill>
              </a:rPr>
              <a:t>552 wins</a:t>
            </a:r>
            <a:endParaRPr lang="en-US" sz="2200" noProof="1"/>
          </a:p>
        </p:txBody>
      </p:sp>
      <p:sp>
        <p:nvSpPr>
          <p:cNvPr id="12" name="Shape 10"/>
          <p:cNvSpPr/>
          <p:nvPr/>
        </p:nvSpPr>
        <p:spPr>
          <a:xfrm>
            <a:off x="1005840" y="3081528"/>
            <a:ext cx="16916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3" name="Shape 11"/>
          <p:cNvSpPr/>
          <p:nvPr/>
        </p:nvSpPr>
        <p:spPr>
          <a:xfrm>
            <a:off x="2697480" y="3081528"/>
            <a:ext cx="2084832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9" name="Text 16"/>
          <p:cNvSpPr/>
          <p:nvPr/>
        </p:nvSpPr>
        <p:spPr>
          <a:xfrm>
            <a:off x="5806440" y="4919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noProof="1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C77C4D74-3D44-A465-9ADA-FEA707F7ACE2}"/>
              </a:ext>
            </a:extLst>
          </p:cNvPr>
          <p:cNvSpPr/>
          <p:nvPr/>
        </p:nvSpPr>
        <p:spPr>
          <a:xfrm>
            <a:off x="521208" y="3922294"/>
            <a:ext cx="5396992" cy="22402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00" noProof="1">
                <a:solidFill>
                  <a:srgbClr val="F8FAFC"/>
                </a:solidFill>
              </a:rPr>
              <a:t>We tested bots in automatic bot-vs-bot matches with </a:t>
            </a:r>
            <a:r>
              <a:rPr lang="en-US" sz="1300" b="1" noProof="1">
                <a:solidFill>
                  <a:srgbClr val="F8FAFC"/>
                </a:solidFill>
              </a:rPr>
              <a:t>random openings</a:t>
            </a:r>
            <a:r>
              <a:rPr lang="en-US" sz="1300" noProof="1">
                <a:solidFill>
                  <a:srgbClr val="F8FAFC"/>
                </a:solidFill>
              </a:rPr>
              <a:t>.</a:t>
            </a: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neural bot is much faster than search during gameplay</a:t>
            </a:r>
            <a:endParaRPr lang="pl-PL" sz="1300" noProof="1">
              <a:solidFill>
                <a:srgbClr val="F8FAFC"/>
              </a:solidFill>
            </a:endParaRP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it uses one forward pass + legal move masking</a:t>
            </a:r>
            <a:endParaRPr lang="pl-PL" sz="1300" noProof="1">
              <a:solidFill>
                <a:srgbClr val="F8FAFC"/>
              </a:solidFill>
            </a:endParaRP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it learned useful move preferences from search-generated states</a:t>
            </a:r>
            <a:endParaRPr lang="pl-PL" sz="1300" noProof="1">
              <a:solidFill>
                <a:srgbClr val="F8FAFC"/>
              </a:solidFill>
            </a:endParaRPr>
          </a:p>
          <a:p>
            <a:endParaRPr lang="en-US" sz="1300" noProof="1">
              <a:solidFill>
                <a:srgbClr val="F8FAFC"/>
              </a:solidFill>
            </a:endParaRPr>
          </a:p>
          <a:p>
            <a:r>
              <a:rPr lang="en-US" sz="1300" noProof="1">
                <a:solidFill>
                  <a:srgbClr val="F8FAFC"/>
                </a:solidFill>
              </a:rPr>
              <a:t>• it became competitive without hand-written strategy rules</a:t>
            </a:r>
          </a:p>
          <a:p>
            <a:endParaRPr lang="en-US" sz="1300" noProof="1">
              <a:solidFill>
                <a:srgbClr val="F8FAFC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38C492E-BED7-ED77-7391-0B18A06E7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128" y="750370"/>
            <a:ext cx="4903831" cy="2724350"/>
          </a:xfrm>
          <a:prstGeom prst="rect">
            <a:avLst/>
          </a:prstGeom>
        </p:spPr>
      </p:pic>
      <p:sp>
        <p:nvSpPr>
          <p:cNvPr id="4" name="Text 7">
            <a:extLst>
              <a:ext uri="{FF2B5EF4-FFF2-40B4-BE49-F238E27FC236}">
                <a16:creationId xmlns:a16="http://schemas.microsoft.com/office/drawing/2014/main" id="{E0E940DB-BBDB-CCE1-842D-009982F8E011}"/>
              </a:ext>
            </a:extLst>
          </p:cNvPr>
          <p:cNvSpPr/>
          <p:nvPr/>
        </p:nvSpPr>
        <p:spPr>
          <a:xfrm>
            <a:off x="6206128" y="3926638"/>
            <a:ext cx="5396992" cy="22402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b="1" noProof="1">
                <a:solidFill>
                  <a:srgbClr val="F8FAFC"/>
                </a:solidFill>
              </a:rPr>
              <a:t>Final result</a:t>
            </a:r>
            <a:r>
              <a:rPr lang="pl-PL" sz="1400" b="1" noProof="1">
                <a:solidFill>
                  <a:srgbClr val="F8FAFC"/>
                </a:solidFill>
              </a:rPr>
              <a:t>s</a:t>
            </a:r>
            <a:r>
              <a:rPr lang="en-US" sz="1400" b="1" noProof="1">
                <a:solidFill>
                  <a:srgbClr val="F8FAFC"/>
                </a:solidFill>
              </a:rPr>
              <a:t>:</a:t>
            </a:r>
            <a:br>
              <a:rPr lang="pl-PL" sz="1400" b="1" noProof="1">
                <a:solidFill>
                  <a:srgbClr val="F8FAFC"/>
                </a:solidFill>
              </a:rPr>
            </a:br>
            <a:endParaRPr lang="en-US" sz="1400" b="1" noProof="1">
              <a:solidFill>
                <a:srgbClr val="F8FAFC"/>
              </a:solidFill>
            </a:endParaRPr>
          </a:p>
          <a:p>
            <a:r>
              <a:rPr lang="en-US" sz="1400" noProof="1">
                <a:solidFill>
                  <a:srgbClr val="F8FAFC"/>
                </a:solidFill>
              </a:rPr>
              <a:t>1000 games, neural vs heuristic</a:t>
            </a:r>
          </a:p>
          <a:p>
            <a:r>
              <a:rPr lang="en-US" sz="1400" noProof="1">
                <a:solidFill>
                  <a:srgbClr val="F8FAFC"/>
                </a:solidFill>
              </a:rPr>
              <a:t>448 neural wins, 552 heuristic wins</a:t>
            </a:r>
            <a:endParaRPr lang="en-US" sz="14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1275</Words>
  <Application>Microsoft Office PowerPoint</Application>
  <PresentationFormat>Widescreen</PresentationFormat>
  <Paragraphs>212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AGH Applied Machine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Soccer AI</dc:title>
  <dc:subject>Paper Soccer AI presentation</dc:subject>
  <dc:creator>OpenAI</dc:creator>
  <cp:lastModifiedBy>Patryk Kuna</cp:lastModifiedBy>
  <cp:revision>9</cp:revision>
  <dcterms:created xsi:type="dcterms:W3CDTF">2026-06-17T22:36:06Z</dcterms:created>
  <dcterms:modified xsi:type="dcterms:W3CDTF">2026-06-18T07:28:31Z</dcterms:modified>
</cp:coreProperties>
</file>